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a4a119b49_1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9a4a119b49_1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9a4a119b49_1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4a119b49_1_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4a119b49_1_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9a4a119b49_1_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4a119b49_1_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a4a119b49_1_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a4a119b49_1_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4a119b49_1_1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a4a119b49_1_1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a4a119b49_1_1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a4a119b49_1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a4a119b49_1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9a4a119b49_1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a4a119b49_1_1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9a4a119b49_1_1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9a4a119b49_1_1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a4a119b49_1_2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9a4a119b49_1_2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9a4a119b49_1_2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a4a119b49_1_2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9a4a119b49_1_2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9a4a119b49_1_2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a4a119b49_1_2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9a4a119b49_1_2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9a4a119b49_1_2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a4a119b49_1_3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9a4a119b49_1_3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9a4a119b49_1_3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a4a119b49_1_3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9a4a119b49_1_3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9a4a119b49_1_3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a4a119b49_1_4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9a4a119b49_1_4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9a4a119b49_1_4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a4a119b49_1_4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9a4a119b49_1_4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9a4a119b49_1_4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a4a119b49_1_4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39a4a119b49_1_4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9a4a119b49_1_4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a4a119b49_1_5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9a4a119b49_1_5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9a4a119b49_1_5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a4a119b49_1_5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9a4a119b49_1_5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9a4a119b49_1_5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9a4d5a52f2_0_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9a4d5a52f2_0_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9a4d5a52f2_0_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9a4a119b49_1_5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9a4a119b49_1_5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9a4a119b49_1_5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9a4a119b49_1_5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9a4a119b49_1_5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9a4a119b49_1_5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9a4a119b49_1_6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g39a4a119b49_1_6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9a4a119b49_1_6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9a4a119b49_1_6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g39a4a119b49_1_6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g39a4a119b49_1_6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youtube.com/watch?v=gxH328IiMFg" TargetMode="External"/><Relationship Id="rId4" Type="http://schemas.openxmlformats.org/officeDocument/2006/relationships/hyperlink" Target="https://big-data-analysis-group-satellite-intelligence-dashboard-sdi6ll.streamlit.app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81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2468880" y="-1737360"/>
            <a:ext cx="8778240" cy="877824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3657600" y="-548640"/>
            <a:ext cx="6400800" cy="64008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4663440" y="457200"/>
            <a:ext cx="4389120" cy="438912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5486400" y="128016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6217920" y="201168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583680" y="2377440"/>
            <a:ext cx="548640" cy="54864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560320" y="2651760"/>
            <a:ext cx="658368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 flipH="1" rot="10800000">
            <a:off x="6858000" y="29369"/>
            <a:ext cx="3745163" cy="2622391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5"/>
          <p:cNvSpPr/>
          <p:nvPr/>
        </p:nvSpPr>
        <p:spPr>
          <a:xfrm>
            <a:off x="5413248" y="143560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513832" y="1536192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7882128" y="120700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7982712" y="1307592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8156448" y="331012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8257032" y="3410712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257800" y="14173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ourier New"/>
              <a:buNone/>
            </a:pPr>
            <a:r>
              <a:rPr b="1" i="0" lang="en" sz="75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MARIUPOL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8065008" y="11887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ourier New"/>
              <a:buNone/>
            </a:pPr>
            <a:r>
              <a:rPr b="1" i="0" lang="en" sz="75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KHARKIV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357616" y="36393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750"/>
              <a:buFont typeface="Courier New"/>
              <a:buNone/>
            </a:pPr>
            <a:r>
              <a:rPr b="1" i="0" lang="en" sz="75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BAKHMUT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0" y="0"/>
            <a:ext cx="5212080" cy="5143500"/>
          </a:xfrm>
          <a:prstGeom prst="rect">
            <a:avLst/>
          </a:prstGeom>
          <a:solidFill>
            <a:srgbClr val="030810"/>
          </a:solidFill>
          <a:ln cap="flat" cmpd="sng" w="12700">
            <a:solidFill>
              <a:srgbClr val="030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0" y="0"/>
            <a:ext cx="521208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274320" y="12801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// COMP 3610  ·  PROJECT  ·  BIG DATA </a:t>
            </a:r>
            <a:r>
              <a:rPr lang="en" sz="850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Analytics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274320" y="502920"/>
            <a:ext cx="4663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SATELLITE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74320" y="2816352"/>
            <a:ext cx="4663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Automated urban damage detection in Ukrainian conflict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using Sentinel-2 multispectral imagery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274320" y="356616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5"/>
          <p:cNvSpPr/>
          <p:nvPr/>
        </p:nvSpPr>
        <p:spPr>
          <a:xfrm>
            <a:off x="274320" y="36576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Josiah Alexis  ·  Jonathan La Borde  ·  Adrian Deo  ·  Matthew Singh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274320" y="3977640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University of the West Indies  ·  St. Augustine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30810"/>
          </a:solidFill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A40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0F2A40"/>
                </a:solidFill>
                <a:latin typeface="Courier New"/>
                <a:ea typeface="Courier New"/>
                <a:cs typeface="Courier New"/>
                <a:sym typeface="Courier New"/>
              </a:rPr>
              <a:t>SAT-INTEL-PLATFORM  ·  COMP3610-2024  ·  UNIVERSITY OF THE WEST INDIES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6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6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6"/>
          <p:cNvCxnSpPr/>
          <p:nvPr/>
        </p:nvCxnSpPr>
        <p:spPr>
          <a:xfrm>
            <a:off x="8412480" y="19496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THE SCOPE IN THREE NUMBERS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64592" y="347472"/>
            <a:ext cx="8686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built, at a glance.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64592" y="1261872"/>
            <a:ext cx="2761488" cy="349300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64592" y="1261872"/>
            <a:ext cx="50292" cy="349300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64592" y="1261872"/>
            <a:ext cx="2761488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329184" y="1389888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200"/>
              <a:buFont typeface="Calibri"/>
              <a:buNone/>
            </a:pPr>
            <a:r>
              <a:rPr b="1" i="0" lang="en" sz="7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29184" y="2487168"/>
            <a:ext cx="2487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Cities Studied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29184" y="2852928"/>
            <a:ext cx="24871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Mariupol  ·  Kharkiv  ·  Bakhmut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578608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679192" y="1325880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3108960" y="1261872"/>
            <a:ext cx="2761488" cy="349300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108960" y="1261872"/>
            <a:ext cx="50292" cy="3493008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3108960" y="1261872"/>
            <a:ext cx="2761488" cy="5029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273552" y="1389888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7200"/>
              <a:buFont typeface="Calibri"/>
              <a:buNone/>
            </a:pPr>
            <a:r>
              <a:rPr b="1" i="0" lang="en" sz="72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3273552" y="2487168"/>
            <a:ext cx="2487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Satellite Scenes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282625" y="2938336"/>
            <a:ext cx="24873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Cloud-filtered Sentinel-2 L2A acquisitions spanning 2021 Q1 through 2024 Q2.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522976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623560" y="1325880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6053328" y="1261872"/>
            <a:ext cx="2761488" cy="349300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053328" y="1261872"/>
            <a:ext cx="50292" cy="3493008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6053328" y="1261872"/>
            <a:ext cx="2761488" cy="50292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6217920" y="1389888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5600"/>
              <a:buFont typeface="Calibri"/>
              <a:buNone/>
            </a:pPr>
            <a:r>
              <a:rPr b="1" i="0" lang="en" sz="5600" u="none" cap="none" strike="noStrike">
                <a:solidFill>
                  <a:srgbClr val="00CC88"/>
                </a:solidFill>
                <a:latin typeface="Calibri"/>
                <a:ea typeface="Calibri"/>
                <a:cs typeface="Calibri"/>
                <a:sym typeface="Calibri"/>
              </a:rPr>
              <a:t>0.934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217920" y="2487168"/>
            <a:ext cx="2487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MLP F1 Score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6217920" y="2852928"/>
            <a:ext cx="24871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Best model performance across all metrics, with AUC-ROC of 0.980.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8467344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CC8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8567928" y="1325880"/>
            <a:ext cx="128016" cy="128016"/>
          </a:xfrm>
          <a:prstGeom prst="ellipse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6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6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Opening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02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7132320" y="274320"/>
            <a:ext cx="2194560" cy="21945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7680960" y="822960"/>
            <a:ext cx="1097280" cy="10972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17"/>
          <p:cNvCxnSpPr/>
          <p:nvPr/>
        </p:nvCxnSpPr>
        <p:spPr>
          <a:xfrm>
            <a:off x="365760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17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17"/>
          <p:cNvCxnSpPr/>
          <p:nvPr/>
        </p:nvCxnSpPr>
        <p:spPr>
          <a:xfrm>
            <a:off x="8229600" y="-1250791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 infrastructure damage automatically, without entering the conflict zone.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164592" y="987550"/>
            <a:ext cx="8686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Timely, scalable assessment across 3 Ukrainian cities, 14 quarterly periods.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64592" y="1481328"/>
            <a:ext cx="2761488" cy="27889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164592" y="1481328"/>
            <a:ext cx="50292" cy="27889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347472" y="166420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47472" y="1993392"/>
            <a:ext cx="2487168" cy="213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 Sentinel-2 satellite scenes as damaged (Label 1) or undamaged (Label 0) using spectral indices and machine learning.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108960" y="1481328"/>
            <a:ext cx="2761488" cy="27889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3108960" y="1481328"/>
            <a:ext cx="50292" cy="278892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3291840" y="166420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291840" y="1993392"/>
            <a:ext cx="2487168" cy="213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 surveys are dangerous in active war zones. Aerial access is restricted. Aid organisations need data now to plan safely.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053328" y="1481328"/>
            <a:ext cx="2761488" cy="27889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053328" y="1481328"/>
            <a:ext cx="50292" cy="2788920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236208" y="166420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55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FF4455"/>
                </a:solidFill>
                <a:latin typeface="Calibri"/>
                <a:ea typeface="Calibri"/>
                <a:cs typeface="Calibri"/>
                <a:sym typeface="Calibri"/>
              </a:rPr>
              <a:t>WHAT MAKES IT HARD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236208" y="1993392"/>
            <a:ext cx="2487168" cy="2139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41 scenes total. No pixel-level ground truth. Winter cloud cover. Three cities with distinct destruction patterns and timelines.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64592" y="4370832"/>
            <a:ext cx="8814816" cy="512064"/>
          </a:xfrm>
          <a:prstGeom prst="rect">
            <a:avLst/>
          </a:prstGeom>
          <a:solidFill>
            <a:srgbClr val="0D1E36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64592" y="4370832"/>
            <a:ext cx="50292" cy="5120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292608" y="4462272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393192" y="4562856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58368" y="444398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Goal: beat a random-label baseline on all 41 scenes, achieve F1 &gt; 0.90, produce interpretable per-city damage maps.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7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Problem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03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81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2468880" y="-1463040"/>
            <a:ext cx="8229600" cy="8229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3657600" y="-274320"/>
            <a:ext cx="5852160" cy="5852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4663440" y="731520"/>
            <a:ext cx="3840480" cy="38404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577840" y="1645920"/>
            <a:ext cx="2011680" cy="20116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6172200" y="2240280"/>
            <a:ext cx="822960" cy="8229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18"/>
          <p:cNvCxnSpPr/>
          <p:nvPr/>
        </p:nvCxnSpPr>
        <p:spPr>
          <a:xfrm>
            <a:off x="2011680" y="2651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8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18"/>
          <p:cNvCxnSpPr/>
          <p:nvPr/>
        </p:nvCxnSpPr>
        <p:spPr>
          <a:xfrm>
            <a:off x="6583680" y="29369"/>
            <a:ext cx="3745163" cy="2622391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8"/>
          <p:cNvSpPr/>
          <p:nvPr/>
        </p:nvSpPr>
        <p:spPr>
          <a:xfrm>
            <a:off x="5413248" y="148132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513832" y="1581912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516368" y="312724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616952" y="3227832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457200" y="1920240"/>
            <a:ext cx="64008" cy="13716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658368" y="1920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Part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58368" y="2267712"/>
            <a:ext cx="5029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7132320" y="274320"/>
            <a:ext cx="2194560" cy="21945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7680960" y="822960"/>
            <a:ext cx="1097280" cy="10972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19"/>
          <p:cNvCxnSpPr/>
          <p:nvPr/>
        </p:nvCxnSpPr>
        <p:spPr>
          <a:xfrm>
            <a:off x="365760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19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19"/>
          <p:cNvCxnSpPr/>
          <p:nvPr/>
        </p:nvCxnSpPr>
        <p:spPr>
          <a:xfrm>
            <a:off x="8229600" y="-1250791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cities, 14 quarters, one cloud-masked pipeline.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All imagery sourced from Microsoft Planetary Computer. Free, open, fully reproducible.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1261872"/>
            <a:ext cx="6035040" cy="34015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6492240" y="1325880"/>
            <a:ext cx="50292" cy="80467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656832" y="13258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656832" y="16002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Sentinel-2 L2A  ·  6 spectral bands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B02 B03 B04 B08 B11 B12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492240" y="2267712"/>
            <a:ext cx="50292" cy="80467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656832" y="226771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656832" y="254203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2021 Q1 – 2024 Q2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14 quarters × 3 cities = 41 scenes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492240" y="3218688"/>
            <a:ext cx="50292" cy="804672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656832" y="32186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00CC88"/>
                </a:solidFill>
                <a:latin typeface="Calibri"/>
                <a:ea typeface="Calibri"/>
                <a:cs typeface="Calibri"/>
                <a:sym typeface="Calibri"/>
              </a:rPr>
              <a:t>Labels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656825" y="3623225"/>
            <a:ext cx="24354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2021 = Label 0  (undamaged baseline)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2022–2024 = Label 1  (conflict period)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492240" y="4160520"/>
            <a:ext cx="50292" cy="804672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6656832" y="41605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9966FF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656832" y="44348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Microsoft Planetary Computer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Copernicus open-access licence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9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9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05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2003375" y="4319825"/>
            <a:ext cx="170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Pre-conflict [Label 0]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285850" y="4319825"/>
            <a:ext cx="170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Conflict period</a:t>
            </a:r>
            <a:r>
              <a:rPr lang="en" sz="900">
                <a:solidFill>
                  <a:schemeClr val="lt1"/>
                </a:solidFill>
              </a:rPr>
              <a:t> [Label 1]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" name="Google Shape;226;p20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20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20"/>
          <p:cNvCxnSpPr/>
          <p:nvPr/>
        </p:nvCxnSpPr>
        <p:spPr>
          <a:xfrm>
            <a:off x="8412480" y="19496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2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DATA QUALITY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masking applied. Spectral indices computed across all scenes.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The preprocessing that made every downstream feature and model possible.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164592" y="1261872"/>
            <a:ext cx="2029968" cy="349300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164592" y="1261872"/>
            <a:ext cx="50292" cy="349300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329184" y="1444752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200"/>
              <a:buFont typeface="Calibri"/>
              <a:buNone/>
            </a:pPr>
            <a:r>
              <a:rPr b="1" i="0" lang="en" sz="4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94.2%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29184" y="2340864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 pixels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29184" y="2688336"/>
            <a:ext cx="175564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Average valid-pixel rate post SCL cloud masking across all 41 scenes.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847088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1947672" y="1325880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2377440" y="1261872"/>
            <a:ext cx="2029968" cy="349300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2377440" y="1261872"/>
            <a:ext cx="50292" cy="3493008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2542032" y="1444752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4200"/>
              <a:buFont typeface="Calibri"/>
              <a:buNone/>
            </a:pPr>
            <a:r>
              <a:rPr b="1" i="0" lang="en" sz="42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&lt; 30%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542032" y="2340864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threshold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2542032" y="2688336"/>
            <a:ext cx="175564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Max cloud cover allowed per scene. Higher scenes excluded from the dataset.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059936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4160520" y="1325880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590288" y="1261872"/>
            <a:ext cx="2029968" cy="349300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4590288" y="1261872"/>
            <a:ext cx="50292" cy="3493008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4754880" y="1444752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4200"/>
              <a:buFont typeface="Calibri"/>
              <a:buNone/>
            </a:pPr>
            <a:r>
              <a:rPr b="1" i="0" lang="en" sz="4200" u="none" cap="none" strike="noStrike">
                <a:solidFill>
                  <a:srgbClr val="00CC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754880" y="2340864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indices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754875" y="2688320"/>
            <a:ext cx="1755600" cy="15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NDVI, NDBI, and BSI — the physical signature of surface destruction.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272784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CC8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6373368" y="1325880"/>
            <a:ext cx="128016" cy="128016"/>
          </a:xfrm>
          <a:prstGeom prst="ellipse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6803136" y="1261872"/>
            <a:ext cx="2029968" cy="349300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6803136" y="1261872"/>
            <a:ext cx="50292" cy="3493008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6967728" y="1444752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SzPts val="4200"/>
              <a:buFont typeface="Calibri"/>
              <a:buNone/>
            </a:pPr>
            <a:r>
              <a:rPr b="1" i="0" lang="en" sz="4200" u="none" cap="none" strike="noStrike">
                <a:solidFill>
                  <a:srgbClr val="9966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6967728" y="2340864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bands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6967728" y="2688336"/>
            <a:ext cx="1755648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B02 B03 B04 B08 B11 B12 retained. SCL used for masking only, not features.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8485632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9966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8586216" y="1325880"/>
            <a:ext cx="128016" cy="128016"/>
          </a:xfrm>
          <a:prstGeom prst="ellipse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20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0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06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7132320" y="274320"/>
            <a:ext cx="2194560" cy="21945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7680960" y="822960"/>
            <a:ext cx="1097280" cy="10972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21"/>
          <p:cNvCxnSpPr/>
          <p:nvPr/>
        </p:nvCxnSpPr>
        <p:spPr>
          <a:xfrm>
            <a:off x="365760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21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21"/>
          <p:cNvCxnSpPr/>
          <p:nvPr/>
        </p:nvCxnSpPr>
        <p:spPr>
          <a:xfrm>
            <a:off x="8229600" y="-1250791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2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EXPLORATORY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indices show clear separation between classes.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The physical signature of destruction is visible before any model is applied.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730" y="1554485"/>
            <a:ext cx="6035100" cy="34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/>
          <p:nvPr/>
        </p:nvSpPr>
        <p:spPr>
          <a:xfrm>
            <a:off x="6492240" y="1325880"/>
            <a:ext cx="50292" cy="804672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6656832" y="13258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00CC88"/>
                </a:solidFill>
                <a:latin typeface="Calibri"/>
                <a:ea typeface="Calibri"/>
                <a:cs typeface="Calibri"/>
                <a:sym typeface="Calibri"/>
              </a:rPr>
              <a:t>NDVI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656832" y="16002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↓ drops sharply — vegetation destroyed after shelling and fire.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492240" y="2267712"/>
            <a:ext cx="50292" cy="80467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6656832" y="226771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NDBI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6656832" y="254203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↑ rises — rubble replaces intact built-up surfaces.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6492240" y="3218688"/>
            <a:ext cx="50292" cy="80467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6656832" y="32186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BSI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6745950" y="3191201"/>
            <a:ext cx="237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↑ nearly triples — bare soil expands as buildings collapse.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6492240" y="4160520"/>
            <a:ext cx="50292" cy="804672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6656832" y="41605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9966FF"/>
                </a:solidFill>
                <a:latin typeface="Calibri"/>
                <a:ea typeface="Calibri"/>
                <a:cs typeface="Calibri"/>
                <a:sym typeface="Calibri"/>
              </a:rPr>
              <a:t>SWIR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656832" y="44348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↑ rises — dry inorganic debris reflects more short-wave IR.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21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21"/>
          <p:cNvSpPr/>
          <p:nvPr/>
        </p:nvSpPr>
        <p:spPr>
          <a:xfrm>
            <a:off x="164592" y="4919472"/>
            <a:ext cx="640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07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1882675" y="4583400"/>
            <a:ext cx="170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Pre-conflict [Label 0]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3425300" y="4619618"/>
            <a:ext cx="1708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Conflict period [Label 1]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81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/>
          <p:nvPr/>
        </p:nvSpPr>
        <p:spPr>
          <a:xfrm>
            <a:off x="2468880" y="-1463040"/>
            <a:ext cx="8229600" cy="8229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3657600" y="-274320"/>
            <a:ext cx="5852160" cy="5852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4663440" y="731520"/>
            <a:ext cx="3840480" cy="38404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5577840" y="1645920"/>
            <a:ext cx="2011680" cy="20116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6172200" y="2240280"/>
            <a:ext cx="822960" cy="8229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22"/>
          <p:cNvCxnSpPr/>
          <p:nvPr/>
        </p:nvCxnSpPr>
        <p:spPr>
          <a:xfrm>
            <a:off x="2011680" y="2651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22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22"/>
          <p:cNvCxnSpPr/>
          <p:nvPr/>
        </p:nvCxnSpPr>
        <p:spPr>
          <a:xfrm>
            <a:off x="6583680" y="29369"/>
            <a:ext cx="3745163" cy="2622391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22"/>
          <p:cNvSpPr/>
          <p:nvPr/>
        </p:nvSpPr>
        <p:spPr>
          <a:xfrm>
            <a:off x="5413248" y="148132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5513832" y="1581912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7516368" y="312724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7616952" y="3227832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457200" y="1920240"/>
            <a:ext cx="64008" cy="13716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658368" y="1920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Part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58368" y="2267712"/>
            <a:ext cx="5029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1371600" y="1554480"/>
            <a:ext cx="6400800" cy="64008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2377440" y="2560320"/>
            <a:ext cx="4389120" cy="438912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3291840" y="3474720"/>
            <a:ext cx="2560320" cy="256032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" name="Google Shape;328;p23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3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3"/>
          <p:cNvCxnSpPr/>
          <p:nvPr/>
        </p:nvCxnSpPr>
        <p:spPr>
          <a:xfrm>
            <a:off x="4572000" y="213248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raw satellite imagery to damage maps in five stages.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Five Jupyter notebooks, fully reproducible from a clean clone.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164592" y="1261872"/>
            <a:ext cx="1591056" cy="2359152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164592" y="1261872"/>
            <a:ext cx="50292" cy="2359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1408176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164592" y="1335024"/>
            <a:ext cx="15910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164592" y="1792224"/>
            <a:ext cx="15910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237744" y="2432304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Cloud masking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Spectral indices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3"/>
          <p:cNvCxnSpPr/>
          <p:nvPr/>
        </p:nvCxnSpPr>
        <p:spPr>
          <a:xfrm>
            <a:off x="1773936" y="2066544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3"/>
          <p:cNvSpPr/>
          <p:nvPr/>
        </p:nvSpPr>
        <p:spPr>
          <a:xfrm>
            <a:off x="1920240" y="1261872"/>
            <a:ext cx="1591056" cy="2359152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1920240" y="1261872"/>
            <a:ext cx="50292" cy="235915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3163824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3264408" y="1325880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"/>
          <p:cNvSpPr/>
          <p:nvPr/>
        </p:nvSpPr>
        <p:spPr>
          <a:xfrm>
            <a:off x="1920240" y="1335024"/>
            <a:ext cx="15910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1920240" y="1792224"/>
            <a:ext cx="15910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1993392" y="2432304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Damage labels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Yearly aggregates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3"/>
          <p:cNvCxnSpPr/>
          <p:nvPr/>
        </p:nvCxnSpPr>
        <p:spPr>
          <a:xfrm>
            <a:off x="3529584" y="2066544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23"/>
          <p:cNvSpPr/>
          <p:nvPr/>
        </p:nvSpPr>
        <p:spPr>
          <a:xfrm>
            <a:off x="3675888" y="1261872"/>
            <a:ext cx="1591056" cy="2359152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3675888" y="1261872"/>
            <a:ext cx="50292" cy="2359152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4919472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9966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5020056" y="1325880"/>
            <a:ext cx="128016" cy="128016"/>
          </a:xfrm>
          <a:prstGeom prst="ellipse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3"/>
          <p:cNvSpPr/>
          <p:nvPr/>
        </p:nvSpPr>
        <p:spPr>
          <a:xfrm>
            <a:off x="3675888" y="1335024"/>
            <a:ext cx="15910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9966FF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3675888" y="1792224"/>
            <a:ext cx="15910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3749040" y="2432304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GLCM texture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Robust statistics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3"/>
          <p:cNvCxnSpPr/>
          <p:nvPr/>
        </p:nvCxnSpPr>
        <p:spPr>
          <a:xfrm>
            <a:off x="5285232" y="2066544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23"/>
          <p:cNvSpPr/>
          <p:nvPr/>
        </p:nvSpPr>
        <p:spPr>
          <a:xfrm>
            <a:off x="5431536" y="1261872"/>
            <a:ext cx="1591056" cy="2359152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5431536" y="1261872"/>
            <a:ext cx="50292" cy="2359152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6675120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F445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6775704" y="1325880"/>
            <a:ext cx="128016" cy="128016"/>
          </a:xfrm>
          <a:prstGeom prst="ellipse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5431536" y="1335024"/>
            <a:ext cx="15910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55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FF4455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5431536" y="1792224"/>
            <a:ext cx="15910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504688" y="2432304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LR · RF · MLP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ResNet-50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23"/>
          <p:cNvCxnSpPr/>
          <p:nvPr/>
        </p:nvCxnSpPr>
        <p:spPr>
          <a:xfrm>
            <a:off x="7040880" y="2066544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23"/>
          <p:cNvSpPr/>
          <p:nvPr/>
        </p:nvSpPr>
        <p:spPr>
          <a:xfrm>
            <a:off x="7187184" y="1261872"/>
            <a:ext cx="1591056" cy="2359152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7187184" y="1261872"/>
            <a:ext cx="50292" cy="2359152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3"/>
          <p:cNvSpPr/>
          <p:nvPr/>
        </p:nvSpPr>
        <p:spPr>
          <a:xfrm>
            <a:off x="8430768" y="1225296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CC8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8531352" y="1325880"/>
            <a:ext cx="128016" cy="128016"/>
          </a:xfrm>
          <a:prstGeom prst="ellipse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7187184" y="1335024"/>
            <a:ext cx="15910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00CC88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7187184" y="1792224"/>
            <a:ext cx="159105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7260336" y="2432304"/>
            <a:ext cx="144475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F1 · AUC-ROC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Damage maps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164542" y="3881853"/>
            <a:ext cx="8814900" cy="914400"/>
          </a:xfrm>
          <a:prstGeom prst="rect">
            <a:avLst/>
          </a:prstGeom>
          <a:solidFill>
            <a:srgbClr val="0D1E36"/>
          </a:solidFill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329184" y="382219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NOTEBOOKS PER STAGE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329184" y="406908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urier New"/>
              <a:buNone/>
            </a:pPr>
            <a:r>
              <a:rPr b="1" i="0" lang="en" sz="13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NB 1  </a:t>
            </a:r>
            <a:r>
              <a:rPr b="0" i="0" lang="en" sz="13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Data cleaning, cloud masking, spectral indices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329184" y="432511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000"/>
              <a:buFont typeface="Courier New"/>
              <a:buNone/>
            </a:pPr>
            <a:r>
              <a:rPr b="1" i="0" lang="en" sz="13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NB 2  </a:t>
            </a:r>
            <a:r>
              <a:rPr b="0" i="0" lang="en" sz="13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Feature engineering, damage labels, group splits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329175" y="4581150"/>
            <a:ext cx="469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SzPts val="1000"/>
              <a:buFont typeface="Courier New"/>
              <a:buNone/>
            </a:pPr>
            <a:r>
              <a:rPr b="1" i="0" lang="en" sz="1300" u="none" cap="none" strike="noStrike">
                <a:solidFill>
                  <a:srgbClr val="9966FF"/>
                </a:solidFill>
                <a:latin typeface="Courier New"/>
                <a:ea typeface="Courier New"/>
                <a:cs typeface="Courier New"/>
                <a:sym typeface="Courier New"/>
              </a:rPr>
              <a:t>NB 2b  </a:t>
            </a:r>
            <a:r>
              <a:rPr b="0" i="0" lang="en" sz="13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Rich features — GLCM, robust stats, quadrant variance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4718304" y="406908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55"/>
              </a:buClr>
              <a:buSzPts val="1000"/>
              <a:buFont typeface="Courier New"/>
              <a:buNone/>
            </a:pPr>
            <a:r>
              <a:rPr b="1" i="0" lang="en" sz="1300" u="none" cap="none" strike="noStrike">
                <a:solidFill>
                  <a:srgbClr val="FF4455"/>
                </a:solidFill>
                <a:latin typeface="Courier New"/>
                <a:ea typeface="Courier New"/>
                <a:cs typeface="Courier New"/>
                <a:sym typeface="Courier New"/>
              </a:rPr>
              <a:t>NB 3  </a:t>
            </a:r>
            <a:r>
              <a:rPr b="0" i="0" lang="en" sz="13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Model training — LR, RF, MLP, ResNet-50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4718304" y="432511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1000"/>
              <a:buFont typeface="Courier New"/>
              <a:buNone/>
            </a:pPr>
            <a:r>
              <a:rPr b="1" i="0" lang="en" sz="1300" u="none" cap="none" strike="noStrike">
                <a:solidFill>
                  <a:srgbClr val="00CC88"/>
                </a:solidFill>
                <a:latin typeface="Courier New"/>
                <a:ea typeface="Courier New"/>
                <a:cs typeface="Courier New"/>
                <a:sym typeface="Courier New"/>
              </a:rPr>
              <a:t>NB 4  </a:t>
            </a:r>
            <a:r>
              <a:rPr b="0" i="0" lang="en" sz="13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Evaluation, ROC curves, damage maps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23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23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Methodology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09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3" name="Google Shape;393;p24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24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24"/>
          <p:cNvCxnSpPr/>
          <p:nvPr/>
        </p:nvCxnSpPr>
        <p:spPr>
          <a:xfrm>
            <a:off x="8412480" y="19496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2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FEATURE ENGINEERING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65 features per scene. Rich features do most of the heavy lifting.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6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Ablation: removing GLCM features costs ~0.08 F1. Removing base spectral features costs ~0.15 F1.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1261872"/>
            <a:ext cx="6035040" cy="340156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6492240" y="1325880"/>
            <a:ext cx="50292" cy="804672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6656832" y="13258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00CC88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6656832" y="16002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Original spectral features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27 features total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6492240" y="2176272"/>
            <a:ext cx="50292" cy="804672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6656832" y="217627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55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FF4455"/>
                </a:solidFill>
                <a:latin typeface="Calibri"/>
                <a:ea typeface="Calibri"/>
                <a:cs typeface="Calibri"/>
                <a:sym typeface="Calibri"/>
              </a:rPr>
              <a:t>Rich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6656832" y="245059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Notebook 2b additions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+38 features (27 → 65)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6492240" y="3035808"/>
            <a:ext cx="50292" cy="80467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6656832" y="30358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GLCM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6656832" y="331012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Texture: contrast, energy,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homogeneity, correlation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6492240" y="3913632"/>
            <a:ext cx="50292" cy="80467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6656832" y="39136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950"/>
              <a:buFont typeface="Calibri"/>
              <a:buNone/>
            </a:pPr>
            <a:r>
              <a:rPr b="1" i="0" lang="en" sz="135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Robust stats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6656832" y="418795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IQR, skewness, kurtosis,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P10, P90 per index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24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24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Methodology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10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5" name="Google Shape;425;p25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25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25"/>
          <p:cNvCxnSpPr/>
          <p:nvPr/>
        </p:nvCxnSpPr>
        <p:spPr>
          <a:xfrm>
            <a:off x="8412480" y="19496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2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models. Group-based splits. Best val-loss checkpoint saved.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We split by city-year group, not randomly. Random splits leak the answer.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164592" y="1389888"/>
            <a:ext cx="5852160" cy="475488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164592" y="1389888"/>
            <a:ext cx="4096512" cy="475488"/>
          </a:xfrm>
          <a:prstGeom prst="rect">
            <a:avLst/>
          </a:prstGeom>
          <a:solidFill>
            <a:srgbClr val="0D1E36"/>
          </a:solidFill>
          <a:ln cap="flat" cmpd="sng" w="12700">
            <a:solidFill>
              <a:srgbClr val="0D1E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4261104" y="1389888"/>
            <a:ext cx="1024128" cy="475488"/>
          </a:xfrm>
          <a:prstGeom prst="rect">
            <a:avLst/>
          </a:prstGeom>
          <a:solidFill>
            <a:srgbClr val="2A8C8C"/>
          </a:solidFill>
          <a:ln cap="flat" cmpd="sng" w="12700">
            <a:solidFill>
              <a:srgbClr val="2A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5285232" y="1389888"/>
            <a:ext cx="731520" cy="475488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274320" y="14813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 ·  ~70%  (city-year groups 2021–2022)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4297680" y="1481328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0D1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60D1A"/>
                </a:solidFill>
                <a:latin typeface="Calibri"/>
                <a:ea typeface="Calibri"/>
                <a:cs typeface="Calibri"/>
                <a:sym typeface="Calibri"/>
              </a:rPr>
              <a:t>VAL  ~17%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5321808" y="1481328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0D1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60D1A"/>
                </a:solidFill>
                <a:latin typeface="Calibri"/>
                <a:ea typeface="Calibri"/>
                <a:cs typeface="Calibri"/>
                <a:sym typeface="Calibri"/>
              </a:rPr>
              <a:t>TEST  ~30%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164592" y="2048256"/>
            <a:ext cx="1600200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4A7A9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164592" y="2048256"/>
            <a:ext cx="50292" cy="2103120"/>
          </a:xfrm>
          <a:prstGeom prst="rect">
            <a:avLst/>
          </a:prstGeom>
          <a:solidFill>
            <a:srgbClr val="4A7A9B"/>
          </a:solidFill>
          <a:ln cap="flat" cmpd="sng" w="12700">
            <a:solidFill>
              <a:srgbClr val="4A7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164592" y="2048256"/>
            <a:ext cx="1600200" cy="50292"/>
          </a:xfrm>
          <a:prstGeom prst="rect">
            <a:avLst/>
          </a:prstGeom>
          <a:solidFill>
            <a:srgbClr val="4A7A9B"/>
          </a:solidFill>
          <a:ln cap="flat" cmpd="sng" w="12700">
            <a:solidFill>
              <a:srgbClr val="4A7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164592" y="2121408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164592" y="279806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tabular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237744" y="3218688"/>
            <a:ext cx="145389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7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LR + Random Forest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1947672" y="2048256"/>
            <a:ext cx="1600200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5"/>
          <p:cNvSpPr/>
          <p:nvPr/>
        </p:nvSpPr>
        <p:spPr>
          <a:xfrm>
            <a:off x="1947672" y="2048256"/>
            <a:ext cx="50292" cy="210312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5"/>
          <p:cNvSpPr/>
          <p:nvPr/>
        </p:nvSpPr>
        <p:spPr>
          <a:xfrm>
            <a:off x="1947672" y="2048256"/>
            <a:ext cx="1600200" cy="5029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1947672" y="2121408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1947672" y="279806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2020824" y="3218688"/>
            <a:ext cx="145389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7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MLP Neural Network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3730752" y="2048256"/>
            <a:ext cx="1600200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3730752" y="2048256"/>
            <a:ext cx="50292" cy="21031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3730752" y="2048256"/>
            <a:ext cx="16002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5"/>
          <p:cNvSpPr/>
          <p:nvPr/>
        </p:nvSpPr>
        <p:spPr>
          <a:xfrm>
            <a:off x="3730752" y="2121408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3730752" y="279806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MLP hidden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3803904" y="3218688"/>
            <a:ext cx="145389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7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64 → 32 → 2 layers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5513832" y="2048256"/>
            <a:ext cx="1600200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5"/>
          <p:cNvSpPr/>
          <p:nvPr/>
        </p:nvSpPr>
        <p:spPr>
          <a:xfrm>
            <a:off x="5513832" y="2048256"/>
            <a:ext cx="50292" cy="2103120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"/>
          <p:cNvSpPr/>
          <p:nvPr/>
        </p:nvSpPr>
        <p:spPr>
          <a:xfrm>
            <a:off x="5513832" y="2048256"/>
            <a:ext cx="1600200" cy="50292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>
            <a:off x="5513832" y="2121408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9966FF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5513832" y="279806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5586984" y="3218688"/>
            <a:ext cx="145389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7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Best val loss checkpoint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7296912" y="2048256"/>
            <a:ext cx="1600200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5"/>
          <p:cNvSpPr/>
          <p:nvPr/>
        </p:nvSpPr>
        <p:spPr>
          <a:xfrm>
            <a:off x="7296912" y="2048256"/>
            <a:ext cx="50292" cy="2103120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5"/>
          <p:cNvSpPr/>
          <p:nvPr/>
        </p:nvSpPr>
        <p:spPr>
          <a:xfrm>
            <a:off x="7296912" y="2048256"/>
            <a:ext cx="1600200" cy="50292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5"/>
          <p:cNvSpPr/>
          <p:nvPr/>
        </p:nvSpPr>
        <p:spPr>
          <a:xfrm>
            <a:off x="7296912" y="2121408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55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FF44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7296912" y="2798064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vision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7370064" y="3218688"/>
            <a:ext cx="1453896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7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ResNet-50  (6-band)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164592" y="4251960"/>
            <a:ext cx="8814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StandardScaler normalisation for all tabular models  ·  WeightedRandomSampler for ResNet-50  ·  Median imputation for NaN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25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25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Methodology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11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81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6"/>
          <p:cNvSpPr/>
          <p:nvPr/>
        </p:nvSpPr>
        <p:spPr>
          <a:xfrm>
            <a:off x="2468880" y="-1463040"/>
            <a:ext cx="8229600" cy="8229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6"/>
          <p:cNvSpPr/>
          <p:nvPr/>
        </p:nvSpPr>
        <p:spPr>
          <a:xfrm>
            <a:off x="3657600" y="-274320"/>
            <a:ext cx="5852160" cy="5852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/>
          <p:nvPr/>
        </p:nvSpPr>
        <p:spPr>
          <a:xfrm>
            <a:off x="4663440" y="731520"/>
            <a:ext cx="3840480" cy="38404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5577840" y="1645920"/>
            <a:ext cx="2011680" cy="20116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6"/>
          <p:cNvSpPr/>
          <p:nvPr/>
        </p:nvSpPr>
        <p:spPr>
          <a:xfrm>
            <a:off x="6172200" y="2240280"/>
            <a:ext cx="822960" cy="8229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4" name="Google Shape;484;p26"/>
          <p:cNvCxnSpPr/>
          <p:nvPr/>
        </p:nvCxnSpPr>
        <p:spPr>
          <a:xfrm>
            <a:off x="2011680" y="2651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26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26"/>
          <p:cNvCxnSpPr/>
          <p:nvPr/>
        </p:nvCxnSpPr>
        <p:spPr>
          <a:xfrm>
            <a:off x="6583680" y="29369"/>
            <a:ext cx="3745163" cy="2622391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26"/>
          <p:cNvSpPr/>
          <p:nvPr/>
        </p:nvSpPr>
        <p:spPr>
          <a:xfrm>
            <a:off x="5413248" y="148132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5513832" y="1581912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6"/>
          <p:cNvSpPr/>
          <p:nvPr/>
        </p:nvSpPr>
        <p:spPr>
          <a:xfrm>
            <a:off x="7516368" y="312724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7616952" y="3227832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6"/>
          <p:cNvSpPr/>
          <p:nvPr/>
        </p:nvSpPr>
        <p:spPr>
          <a:xfrm>
            <a:off x="457200" y="1920240"/>
            <a:ext cx="64008" cy="13716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6"/>
          <p:cNvSpPr/>
          <p:nvPr/>
        </p:nvSpPr>
        <p:spPr>
          <a:xfrm>
            <a:off x="658368" y="1920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Part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658368" y="2267712"/>
            <a:ext cx="5029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"/>
          <p:cNvSpPr/>
          <p:nvPr/>
        </p:nvSpPr>
        <p:spPr>
          <a:xfrm>
            <a:off x="5029200" y="-457200"/>
            <a:ext cx="6400800" cy="64008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6035040" y="548640"/>
            <a:ext cx="4389120" cy="438912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6949440" y="1463040"/>
            <a:ext cx="2560320" cy="256032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7680960" y="2194560"/>
            <a:ext cx="1097280" cy="10972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4" name="Google Shape;504;p27"/>
          <p:cNvCxnSpPr/>
          <p:nvPr/>
        </p:nvCxnSpPr>
        <p:spPr>
          <a:xfrm>
            <a:off x="365760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27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27"/>
          <p:cNvCxnSpPr/>
          <p:nvPr/>
        </p:nvCxnSpPr>
        <p:spPr>
          <a:xfrm>
            <a:off x="8229600" y="1208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p2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HEADLINE 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164592" y="5029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3000"/>
              <a:buFont typeface="Calibri"/>
              <a:buNone/>
            </a:pPr>
            <a:r>
              <a:rPr b="1" i="0" lang="en" sz="130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0.934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164592" y="2907792"/>
            <a:ext cx="3200400" cy="7315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164592" y="3017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MLP F1 Score on the test 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164592" y="345643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AUC-ROC = 0.980  ·  All 3 cities classified with F1 &gt; 0.95.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6217920" y="1005840"/>
            <a:ext cx="2651760" cy="333756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6217920" y="1005840"/>
            <a:ext cx="50292" cy="333756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6400800" y="117043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VERSUS BASELINES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27"/>
          <p:cNvCxnSpPr/>
          <p:nvPr/>
        </p:nvCxnSpPr>
        <p:spPr>
          <a:xfrm>
            <a:off x="6400800" y="1984248"/>
            <a:ext cx="2304288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7"/>
          <p:cNvSpPr/>
          <p:nvPr/>
        </p:nvSpPr>
        <p:spPr>
          <a:xfrm>
            <a:off x="6400800" y="150876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5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Random (50/50)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7909560" y="1508760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500"/>
              <a:buFont typeface="Calibri"/>
              <a:buNone/>
            </a:pPr>
            <a:r>
              <a:rPr b="1" i="0" lang="en" sz="19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~0.50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0" name="Google Shape;520;p27"/>
          <p:cNvCxnSpPr/>
          <p:nvPr/>
        </p:nvCxnSpPr>
        <p:spPr>
          <a:xfrm>
            <a:off x="6400800" y="2624328"/>
            <a:ext cx="2304288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27"/>
          <p:cNvSpPr/>
          <p:nvPr/>
        </p:nvSpPr>
        <p:spPr>
          <a:xfrm>
            <a:off x="6400800" y="214884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5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7909560" y="2148840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500"/>
              <a:buFont typeface="Calibri"/>
              <a:buNone/>
            </a:pPr>
            <a:r>
              <a:rPr b="1" i="0" lang="en" sz="19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0.912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Google Shape;523;p27"/>
          <p:cNvCxnSpPr/>
          <p:nvPr/>
        </p:nvCxnSpPr>
        <p:spPr>
          <a:xfrm>
            <a:off x="6400800" y="3264408"/>
            <a:ext cx="2304288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7"/>
          <p:cNvSpPr/>
          <p:nvPr/>
        </p:nvSpPr>
        <p:spPr>
          <a:xfrm>
            <a:off x="6400800" y="278892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5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7909560" y="2788920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500"/>
              <a:buFont typeface="Calibri"/>
              <a:buNone/>
            </a:pPr>
            <a:r>
              <a:rPr b="1" i="0" lang="en" sz="19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0.788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27"/>
          <p:cNvCxnSpPr/>
          <p:nvPr/>
        </p:nvCxnSpPr>
        <p:spPr>
          <a:xfrm>
            <a:off x="6400800" y="3904488"/>
            <a:ext cx="2304288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7"/>
          <p:cNvSpPr/>
          <p:nvPr/>
        </p:nvSpPr>
        <p:spPr>
          <a:xfrm>
            <a:off x="6400800" y="342900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5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MLP  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7909560" y="3429000"/>
            <a:ext cx="822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500"/>
              <a:buFont typeface="Calibri"/>
              <a:buNone/>
            </a:pPr>
            <a:r>
              <a:rPr b="1" i="0" lang="en" sz="19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0.934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p27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27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Results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13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8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8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0" name="Google Shape;540;p28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28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28"/>
          <p:cNvCxnSpPr/>
          <p:nvPr/>
        </p:nvCxnSpPr>
        <p:spPr>
          <a:xfrm>
            <a:off x="8412480" y="19496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2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8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MODEL COMPARISON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MLP wins on all key metrics.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6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Precision 0.940  ·  Recall 0.928  ·  F1 0.934  ·  AUC-ROC 0.980, evaluated on all held-out city-year groups.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1261872"/>
            <a:ext cx="603504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8"/>
          <p:cNvSpPr/>
          <p:nvPr/>
        </p:nvSpPr>
        <p:spPr>
          <a:xfrm>
            <a:off x="6400800" y="1261872"/>
            <a:ext cx="2578608" cy="320040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8"/>
          <p:cNvSpPr/>
          <p:nvPr/>
        </p:nvSpPr>
        <p:spPr>
          <a:xfrm>
            <a:off x="6400800" y="1261872"/>
            <a:ext cx="50292" cy="32004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8"/>
          <p:cNvSpPr/>
          <p:nvPr/>
        </p:nvSpPr>
        <p:spPr>
          <a:xfrm>
            <a:off x="6565392" y="141732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FULL METRICS  ·  MLP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6473952" y="1755648"/>
            <a:ext cx="2432304" cy="566928"/>
          </a:xfrm>
          <a:prstGeom prst="rect">
            <a:avLst/>
          </a:prstGeom>
          <a:solidFill>
            <a:srgbClr val="0D1E36"/>
          </a:solidFill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8"/>
          <p:cNvSpPr/>
          <p:nvPr/>
        </p:nvSpPr>
        <p:spPr>
          <a:xfrm>
            <a:off x="6565392" y="188366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7863840" y="1847088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600"/>
              <a:buFont typeface="Calibri"/>
              <a:buNone/>
            </a:pPr>
            <a:r>
              <a:rPr b="1" i="0" lang="en" sz="19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0.940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6473952" y="2414016"/>
            <a:ext cx="2432304" cy="56692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6565392" y="254203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7863840" y="2505456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600"/>
              <a:buFont typeface="Calibri"/>
              <a:buNone/>
            </a:pPr>
            <a:r>
              <a:rPr b="1" i="0" lang="en" sz="19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0.928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6473952" y="3072384"/>
            <a:ext cx="2432304" cy="566928"/>
          </a:xfrm>
          <a:prstGeom prst="rect">
            <a:avLst/>
          </a:prstGeom>
          <a:solidFill>
            <a:srgbClr val="0D1E36"/>
          </a:solidFill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6565392" y="32004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7863840" y="3163824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600"/>
              <a:buFont typeface="Calibri"/>
              <a:buNone/>
            </a:pPr>
            <a:r>
              <a:rPr b="1" i="0" lang="en" sz="19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0.934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6473952" y="3730752"/>
            <a:ext cx="2432304" cy="56692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6565392" y="385876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7863840" y="3822192"/>
            <a:ext cx="960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600"/>
              <a:buFont typeface="Calibri"/>
              <a:buNone/>
            </a:pPr>
            <a:r>
              <a:rPr b="1" i="0" lang="en" sz="19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0.980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164592" y="4370832"/>
            <a:ext cx="8814816" cy="512064"/>
          </a:xfrm>
          <a:prstGeom prst="rect">
            <a:avLst/>
          </a:prstGeom>
          <a:solidFill>
            <a:srgbClr val="0D1E36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164592" y="4370832"/>
            <a:ext cx="50292" cy="5120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8"/>
          <p:cNvSpPr/>
          <p:nvPr/>
        </p:nvSpPr>
        <p:spPr>
          <a:xfrm>
            <a:off x="292608" y="4462272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8"/>
          <p:cNvSpPr/>
          <p:nvPr/>
        </p:nvSpPr>
        <p:spPr>
          <a:xfrm>
            <a:off x="393192" y="4562856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8"/>
          <p:cNvSpPr/>
          <p:nvPr/>
        </p:nvSpPr>
        <p:spPr>
          <a:xfrm>
            <a:off x="658368" y="444398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Takeaway: spectral features + MLP outperforms deep learning in this low-data regime (41 scenes). ResNet-50 limited by patch dataset size.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28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28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Results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14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9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9"/>
          <p:cNvSpPr/>
          <p:nvPr/>
        </p:nvSpPr>
        <p:spPr>
          <a:xfrm>
            <a:off x="7132320" y="274320"/>
            <a:ext cx="2194560" cy="21945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9"/>
          <p:cNvSpPr/>
          <p:nvPr/>
        </p:nvSpPr>
        <p:spPr>
          <a:xfrm>
            <a:off x="7680960" y="822960"/>
            <a:ext cx="1097280" cy="10972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0" name="Google Shape;580;p29"/>
          <p:cNvCxnSpPr/>
          <p:nvPr/>
        </p:nvCxnSpPr>
        <p:spPr>
          <a:xfrm>
            <a:off x="365760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29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9"/>
          <p:cNvCxnSpPr/>
          <p:nvPr/>
        </p:nvCxnSpPr>
        <p:spPr>
          <a:xfrm>
            <a:off x="8229600" y="-1250791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2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9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9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PER-CITY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three cities classified with F1 &gt; 0.95.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9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MLP generalises across distinct urban conflict environments and destruction patterns.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8" name="Google Shape;5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1261872"/>
            <a:ext cx="6035040" cy="3401568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9"/>
          <p:cNvSpPr/>
          <p:nvPr/>
        </p:nvSpPr>
        <p:spPr>
          <a:xfrm>
            <a:off x="6492240" y="1325880"/>
            <a:ext cx="50292" cy="80467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9"/>
          <p:cNvSpPr/>
          <p:nvPr/>
        </p:nvSpPr>
        <p:spPr>
          <a:xfrm>
            <a:off x="6656832" y="1325880"/>
            <a:ext cx="237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Kharkiv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6656832" y="16002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F1 = 1.000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Perfect — distinct spectral change post-2022 shelling along northern districts.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6492240" y="2542032"/>
            <a:ext cx="50292" cy="80467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9"/>
          <p:cNvSpPr/>
          <p:nvPr/>
        </p:nvSpPr>
        <p:spPr>
          <a:xfrm>
            <a:off x="6656832" y="25420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Bakhmut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6656832" y="281635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F1 = 0.981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Near-perfect — pervasive destruction across entire urban area.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6492240" y="3767328"/>
            <a:ext cx="50292" cy="804672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9"/>
          <p:cNvSpPr/>
          <p:nvPr/>
        </p:nvSpPr>
        <p:spPr>
          <a:xfrm>
            <a:off x="6656832" y="37673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66FF"/>
              </a:buClr>
              <a:buSzPts val="950"/>
              <a:buFont typeface="Calibri"/>
              <a:buNone/>
            </a:pPr>
            <a:r>
              <a:rPr b="1" i="0" lang="en" sz="1250" u="none" cap="none" strike="noStrike">
                <a:solidFill>
                  <a:srgbClr val="9966FF"/>
                </a:solidFill>
                <a:latin typeface="Calibri"/>
                <a:ea typeface="Calibri"/>
                <a:cs typeface="Calibri"/>
                <a:sym typeface="Calibri"/>
              </a:rPr>
              <a:t>Mariupol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9"/>
          <p:cNvSpPr/>
          <p:nvPr/>
        </p:nvSpPr>
        <p:spPr>
          <a:xfrm>
            <a:off x="6656832" y="404164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F1 = 0.955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Excellent — slight cloud interference in winter quarters.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29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29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Results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15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810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0"/>
          <p:cNvSpPr/>
          <p:nvPr/>
        </p:nvSpPr>
        <p:spPr>
          <a:xfrm>
            <a:off x="2468880" y="-1463040"/>
            <a:ext cx="8229600" cy="8229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0"/>
          <p:cNvSpPr/>
          <p:nvPr/>
        </p:nvSpPr>
        <p:spPr>
          <a:xfrm>
            <a:off x="3657600" y="-274320"/>
            <a:ext cx="5852160" cy="5852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4663440" y="731520"/>
            <a:ext cx="3840480" cy="38404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5577840" y="1645920"/>
            <a:ext cx="2011680" cy="201168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6172200" y="2240280"/>
            <a:ext cx="822960" cy="8229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1" name="Google Shape;611;p30"/>
          <p:cNvCxnSpPr/>
          <p:nvPr/>
        </p:nvCxnSpPr>
        <p:spPr>
          <a:xfrm>
            <a:off x="2011680" y="2651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30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30"/>
          <p:cNvCxnSpPr/>
          <p:nvPr/>
        </p:nvCxnSpPr>
        <p:spPr>
          <a:xfrm>
            <a:off x="6583680" y="29369"/>
            <a:ext cx="3745163" cy="2622391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p30"/>
          <p:cNvSpPr/>
          <p:nvPr/>
        </p:nvSpPr>
        <p:spPr>
          <a:xfrm>
            <a:off x="5413248" y="148132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0"/>
          <p:cNvSpPr/>
          <p:nvPr/>
        </p:nvSpPr>
        <p:spPr>
          <a:xfrm>
            <a:off x="5513832" y="1581912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7516368" y="312724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0"/>
          <p:cNvSpPr/>
          <p:nvPr/>
        </p:nvSpPr>
        <p:spPr>
          <a:xfrm>
            <a:off x="7616952" y="3227832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0"/>
          <p:cNvSpPr/>
          <p:nvPr/>
        </p:nvSpPr>
        <p:spPr>
          <a:xfrm>
            <a:off x="561050" y="274325"/>
            <a:ext cx="72900" cy="8229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0"/>
          <p:cNvSpPr/>
          <p:nvPr/>
        </p:nvSpPr>
        <p:spPr>
          <a:xfrm>
            <a:off x="771219" y="274325"/>
            <a:ext cx="45720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Part 0</a:t>
            </a:r>
            <a:r>
              <a:rPr b="1" lang="en" sz="1100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0"/>
          <p:cNvSpPr/>
          <p:nvPr/>
        </p:nvSpPr>
        <p:spPr>
          <a:xfrm>
            <a:off x="771219" y="503365"/>
            <a:ext cx="50292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r>
              <a:rPr b="1" lang="en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Demo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0"/>
          <p:cNvSpPr/>
          <p:nvPr/>
        </p:nvSpPr>
        <p:spPr>
          <a:xfrm>
            <a:off x="658804" y="1824488"/>
            <a:ext cx="78264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Demo Video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t/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https://www.youtube.com/watch?v=gxH328IiMFg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0"/>
          <p:cNvSpPr/>
          <p:nvPr/>
        </p:nvSpPr>
        <p:spPr>
          <a:xfrm>
            <a:off x="658804" y="3024900"/>
            <a:ext cx="78264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t/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https://big-data-analysis-group-satellite-intelligence-dashboard-sdi6ll.streamlit.app/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810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1"/>
          <p:cNvSpPr/>
          <p:nvPr/>
        </p:nvSpPr>
        <p:spPr>
          <a:xfrm>
            <a:off x="2468880" y="-1463040"/>
            <a:ext cx="8229600" cy="8229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3657600" y="-274320"/>
            <a:ext cx="5852100" cy="58521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4663440" y="731520"/>
            <a:ext cx="3840600" cy="38406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1"/>
          <p:cNvSpPr/>
          <p:nvPr/>
        </p:nvSpPr>
        <p:spPr>
          <a:xfrm>
            <a:off x="5577840" y="1645920"/>
            <a:ext cx="2011800" cy="20118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>
            <a:off x="6172200" y="2240280"/>
            <a:ext cx="822900" cy="8229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4" name="Google Shape;634;p31"/>
          <p:cNvCxnSpPr/>
          <p:nvPr/>
        </p:nvCxnSpPr>
        <p:spPr>
          <a:xfrm>
            <a:off x="2011680" y="2651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p31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31"/>
          <p:cNvCxnSpPr/>
          <p:nvPr/>
        </p:nvCxnSpPr>
        <p:spPr>
          <a:xfrm>
            <a:off x="6583680" y="29369"/>
            <a:ext cx="3745200" cy="2622300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p31"/>
          <p:cNvSpPr/>
          <p:nvPr/>
        </p:nvSpPr>
        <p:spPr>
          <a:xfrm>
            <a:off x="5413248" y="1481328"/>
            <a:ext cx="329100" cy="329100"/>
          </a:xfrm>
          <a:prstGeom prst="ellipse">
            <a:avLst/>
          </a:prstGeom>
          <a:noFill/>
          <a:ln cap="flat" cmpd="sng" w="9525">
            <a:solidFill>
              <a:srgbClr val="00D4FF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5513832" y="1581912"/>
            <a:ext cx="128100" cy="1281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7516368" y="3127248"/>
            <a:ext cx="329100" cy="329100"/>
          </a:xfrm>
          <a:prstGeom prst="ellipse">
            <a:avLst/>
          </a:prstGeom>
          <a:noFill/>
          <a:ln cap="flat" cmpd="sng" w="9525">
            <a:solidFill>
              <a:srgbClr val="F4A228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1"/>
          <p:cNvSpPr/>
          <p:nvPr/>
        </p:nvSpPr>
        <p:spPr>
          <a:xfrm>
            <a:off x="7616952" y="3227832"/>
            <a:ext cx="128100" cy="128100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1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457200" y="1920240"/>
            <a:ext cx="63900" cy="13716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1"/>
          <p:cNvSpPr/>
          <p:nvPr/>
        </p:nvSpPr>
        <p:spPr>
          <a:xfrm>
            <a:off x="658368" y="192024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Part 0</a:t>
            </a:r>
            <a:r>
              <a:rPr b="1" lang="en" sz="1100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1"/>
          <p:cNvSpPr/>
          <p:nvPr/>
        </p:nvSpPr>
        <p:spPr>
          <a:xfrm>
            <a:off x="658368" y="2267712"/>
            <a:ext cx="5029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2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2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2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3" name="Google Shape;653;p32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32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32"/>
          <p:cNvCxnSpPr/>
          <p:nvPr/>
        </p:nvCxnSpPr>
        <p:spPr>
          <a:xfrm>
            <a:off x="8412480" y="19496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p3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2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2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HONEST 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2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model does not do, that we think is worth stating.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2"/>
          <p:cNvSpPr/>
          <p:nvPr/>
        </p:nvSpPr>
        <p:spPr>
          <a:xfrm>
            <a:off x="164592" y="9144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300"/>
              <a:buFont typeface="Calibri"/>
              <a:buNone/>
            </a:pPr>
            <a:r>
              <a:rPr b="0" i="0" lang="en" sz="17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Every methodology has trade-offs. Here are ours.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2"/>
          <p:cNvSpPr/>
          <p:nvPr/>
        </p:nvSpPr>
        <p:spPr>
          <a:xfrm>
            <a:off x="164592" y="1298448"/>
            <a:ext cx="4297680" cy="1792224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2"/>
          <p:cNvSpPr/>
          <p:nvPr/>
        </p:nvSpPr>
        <p:spPr>
          <a:xfrm>
            <a:off x="164592" y="1298448"/>
            <a:ext cx="50292" cy="179222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2"/>
          <p:cNvSpPr/>
          <p:nvPr/>
        </p:nvSpPr>
        <p:spPr>
          <a:xfrm>
            <a:off x="347472" y="14630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b="1" i="0" lang="en" u="none" cap="none" strike="noStrike">
                <a:solidFill>
                  <a:srgbClr val="7EA8C9"/>
                </a:solidFill>
                <a:latin typeface="Calibri"/>
                <a:ea typeface="Calibri"/>
                <a:cs typeface="Calibri"/>
                <a:sym typeface="Calibri"/>
              </a:rPr>
              <a:t>NO PIXEL-LEVEL GROUND TRUTH</a:t>
            </a:r>
            <a:endParaRPr b="0" i="0" u="none" cap="none" strike="noStrike">
              <a:solidFill>
                <a:srgbClr val="7EA8C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2"/>
          <p:cNvSpPr/>
          <p:nvPr/>
        </p:nvSpPr>
        <p:spPr>
          <a:xfrm>
            <a:off x="347472" y="1792224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50"/>
              <a:buFont typeface="Calibri"/>
              <a:buNone/>
            </a:pPr>
            <a:r>
              <a:rPr b="0" i="0" lang="en" sz="175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We used temporal labels (2021 = undamaged, 2022+ = damaged) as a proxy. No building-level UNOSAT annotations were available for training.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2"/>
          <p:cNvSpPr/>
          <p:nvPr/>
        </p:nvSpPr>
        <p:spPr>
          <a:xfrm>
            <a:off x="4645152" y="1298448"/>
            <a:ext cx="4297680" cy="1792224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2A8C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2"/>
          <p:cNvSpPr/>
          <p:nvPr/>
        </p:nvSpPr>
        <p:spPr>
          <a:xfrm>
            <a:off x="4645152" y="1298448"/>
            <a:ext cx="50292" cy="1792224"/>
          </a:xfrm>
          <a:prstGeom prst="rect">
            <a:avLst/>
          </a:prstGeom>
          <a:solidFill>
            <a:srgbClr val="2A8C8C"/>
          </a:solidFill>
          <a:ln cap="flat" cmpd="sng" w="12700">
            <a:solidFill>
              <a:srgbClr val="2A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2"/>
          <p:cNvSpPr/>
          <p:nvPr/>
        </p:nvSpPr>
        <p:spPr>
          <a:xfrm>
            <a:off x="4828032" y="14630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8C8C"/>
              </a:buClr>
              <a:buSzPts val="1000"/>
              <a:buFont typeface="Calibri"/>
              <a:buNone/>
            </a:pPr>
            <a:r>
              <a:rPr b="1" i="0" lang="en" u="none" cap="none" strike="noStrike">
                <a:solidFill>
                  <a:srgbClr val="2A8C8C"/>
                </a:solidFill>
                <a:latin typeface="Calibri"/>
                <a:ea typeface="Calibri"/>
                <a:cs typeface="Calibri"/>
                <a:sym typeface="Calibri"/>
              </a:rPr>
              <a:t>SCENE-LEVEL ONLY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4828032" y="1792224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50"/>
              <a:buFont typeface="Calibri"/>
              <a:buNone/>
            </a:pPr>
            <a:r>
              <a:rPr b="0" i="0" lang="en" sz="175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The model classifies entire satellite scenes, not individual buildings or grid cells. Pixel-level damage localisation is future work.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164592" y="3127250"/>
            <a:ext cx="4297800" cy="179220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2"/>
          <p:cNvSpPr/>
          <p:nvPr/>
        </p:nvSpPr>
        <p:spPr>
          <a:xfrm>
            <a:off x="173742" y="3127238"/>
            <a:ext cx="50400" cy="1792200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2"/>
          <p:cNvSpPr/>
          <p:nvPr/>
        </p:nvSpPr>
        <p:spPr>
          <a:xfrm>
            <a:off x="347472" y="33649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55"/>
              </a:buClr>
              <a:buSzPts val="1000"/>
              <a:buFont typeface="Calibri"/>
              <a:buNone/>
            </a:pPr>
            <a:r>
              <a:rPr b="1" i="0" lang="en" u="none" cap="none" strike="noStrike">
                <a:solidFill>
                  <a:srgbClr val="FF4455"/>
                </a:solidFill>
                <a:latin typeface="Calibri"/>
                <a:ea typeface="Calibri"/>
                <a:cs typeface="Calibri"/>
                <a:sym typeface="Calibri"/>
              </a:rPr>
              <a:t>WINTER CLOUD COVER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347472" y="3694176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50"/>
              <a:buFont typeface="Calibri"/>
              <a:buNone/>
            </a:pPr>
            <a:r>
              <a:rPr b="0" i="0" lang="en" sz="175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Several Q1 scenes have elevated cloud cover even after masking, introducing noise into the pre-conflict 2021 baseline for some cities.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4645077" y="3127238"/>
            <a:ext cx="4297800" cy="179220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2"/>
          <p:cNvSpPr/>
          <p:nvPr/>
        </p:nvSpPr>
        <p:spPr>
          <a:xfrm>
            <a:off x="4645102" y="3127238"/>
            <a:ext cx="50400" cy="17922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2"/>
          <p:cNvSpPr/>
          <p:nvPr/>
        </p:nvSpPr>
        <p:spPr>
          <a:xfrm>
            <a:off x="4828032" y="33649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000"/>
              <a:buFont typeface="Calibri"/>
              <a:buNone/>
            </a:pPr>
            <a:r>
              <a:rPr b="1" i="0" lang="en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RESNET-50 DATA LIMITATION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4828032" y="3694176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0E8"/>
              </a:buClr>
              <a:buSzPts val="1150"/>
              <a:buFont typeface="Calibri"/>
              <a:buNone/>
            </a:pPr>
            <a:r>
              <a:rPr b="0" i="0" lang="en" sz="1750" u="none" cap="none" strike="noStrike">
                <a:solidFill>
                  <a:srgbClr val="B8D0E8"/>
                </a:solidFill>
                <a:latin typeface="Calibri"/>
                <a:ea typeface="Calibri"/>
                <a:cs typeface="Calibri"/>
                <a:sym typeface="Calibri"/>
              </a:rPr>
              <a:t>41 scenes generated insufficient patches for deep learning to generalise. Patch-based ResNet-50 accuracy of 0.467 is near chance — a data volume problem, not an architecture failure.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32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32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Reflection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17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3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3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3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8" name="Google Shape;688;p33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33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p33"/>
          <p:cNvCxnSpPr/>
          <p:nvPr/>
        </p:nvCxnSpPr>
        <p:spPr>
          <a:xfrm>
            <a:off x="8412480" y="1949609"/>
            <a:ext cx="3745163" cy="2622391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3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3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3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WHAT WE LEARNED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3"/>
          <p:cNvSpPr/>
          <p:nvPr/>
        </p:nvSpPr>
        <p:spPr>
          <a:xfrm>
            <a:off x="164592" y="347472"/>
            <a:ext cx="8686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3"/>
          <p:cNvSpPr/>
          <p:nvPr/>
        </p:nvSpPr>
        <p:spPr>
          <a:xfrm>
            <a:off x="164592" y="1298448"/>
            <a:ext cx="8814816" cy="100584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3"/>
          <p:cNvSpPr/>
          <p:nvPr/>
        </p:nvSpPr>
        <p:spPr>
          <a:xfrm>
            <a:off x="164592" y="1298448"/>
            <a:ext cx="50292" cy="100584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3"/>
          <p:cNvSpPr/>
          <p:nvPr/>
        </p:nvSpPr>
        <p:spPr>
          <a:xfrm>
            <a:off x="256032" y="1408176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8" name="Google Shape;698;p33"/>
          <p:cNvCxnSpPr/>
          <p:nvPr/>
        </p:nvCxnSpPr>
        <p:spPr>
          <a:xfrm>
            <a:off x="1078992" y="1408176"/>
            <a:ext cx="0" cy="749808"/>
          </a:xfrm>
          <a:prstGeom prst="straightConnector1">
            <a:avLst/>
          </a:prstGeom>
          <a:noFill/>
          <a:ln cap="flat" cmpd="sng" w="10150">
            <a:solidFill>
              <a:srgbClr val="F4A22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9" name="Google Shape;699;p33"/>
          <p:cNvSpPr/>
          <p:nvPr/>
        </p:nvSpPr>
        <p:spPr>
          <a:xfrm>
            <a:off x="1261872" y="1389888"/>
            <a:ext cx="7498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Spectral features do most of the work.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3"/>
          <p:cNvSpPr/>
          <p:nvPr/>
        </p:nvSpPr>
        <p:spPr>
          <a:xfrm>
            <a:off x="1261872" y="1737360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6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NDVI, NDBI, and BSI provide clear class separation before any model is applied. The data tells the story — the model confirms it.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164592" y="2414016"/>
            <a:ext cx="8814816" cy="100584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3"/>
          <p:cNvSpPr/>
          <p:nvPr/>
        </p:nvSpPr>
        <p:spPr>
          <a:xfrm>
            <a:off x="164592" y="2414016"/>
            <a:ext cx="50292" cy="100584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3"/>
          <p:cNvSpPr/>
          <p:nvPr/>
        </p:nvSpPr>
        <p:spPr>
          <a:xfrm>
            <a:off x="256032" y="2523744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4" name="Google Shape;704;p33"/>
          <p:cNvCxnSpPr/>
          <p:nvPr/>
        </p:nvCxnSpPr>
        <p:spPr>
          <a:xfrm>
            <a:off x="1078992" y="2523744"/>
            <a:ext cx="0" cy="749808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5" name="Google Shape;705;p33"/>
          <p:cNvSpPr/>
          <p:nvPr/>
        </p:nvSpPr>
        <p:spPr>
          <a:xfrm>
            <a:off x="1261872" y="2505456"/>
            <a:ext cx="7498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 matters more than model complexity.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3"/>
          <p:cNvSpPr/>
          <p:nvPr/>
        </p:nvSpPr>
        <p:spPr>
          <a:xfrm>
            <a:off x="1261872" y="2852928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6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Rich features (GLCM texture, quadrant variance, robust stats) improved F1 significantly. Going from 27 to 65 features outperformed switching to deep learning.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3"/>
          <p:cNvSpPr/>
          <p:nvPr/>
        </p:nvSpPr>
        <p:spPr>
          <a:xfrm>
            <a:off x="164592" y="3529584"/>
            <a:ext cx="8814816" cy="100584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3"/>
          <p:cNvSpPr/>
          <p:nvPr/>
        </p:nvSpPr>
        <p:spPr>
          <a:xfrm>
            <a:off x="164592" y="3529584"/>
            <a:ext cx="50292" cy="1005840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3"/>
          <p:cNvSpPr/>
          <p:nvPr/>
        </p:nvSpPr>
        <p:spPr>
          <a:xfrm>
            <a:off x="256032" y="3639312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C88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00CC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0" name="Google Shape;710;p33"/>
          <p:cNvCxnSpPr/>
          <p:nvPr/>
        </p:nvCxnSpPr>
        <p:spPr>
          <a:xfrm>
            <a:off x="1078992" y="3639312"/>
            <a:ext cx="0" cy="749808"/>
          </a:xfrm>
          <a:prstGeom prst="straightConnector1">
            <a:avLst/>
          </a:prstGeom>
          <a:noFill/>
          <a:ln cap="flat" cmpd="sng" w="10150">
            <a:solidFill>
              <a:srgbClr val="00CC8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p33"/>
          <p:cNvSpPr/>
          <p:nvPr/>
        </p:nvSpPr>
        <p:spPr>
          <a:xfrm>
            <a:off x="1261872" y="3621024"/>
            <a:ext cx="7498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 model complexity to data volume.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1261872" y="3968496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6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ResNet-50 at 0.467 accuracy vs MLP at 0.934 F1 makes the lesson clear. In a low-data regime, well-engineered tabular features beat a 25M-parameter model every time.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33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p33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Wrap-up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3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18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D1A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4"/>
          <p:cNvSpPr/>
          <p:nvPr/>
        </p:nvSpPr>
        <p:spPr>
          <a:xfrm>
            <a:off x="6126480" y="2286000"/>
            <a:ext cx="4572000" cy="45720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4"/>
          <p:cNvSpPr/>
          <p:nvPr/>
        </p:nvSpPr>
        <p:spPr>
          <a:xfrm>
            <a:off x="7040880" y="3200400"/>
            <a:ext cx="2743200" cy="27432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4"/>
          <p:cNvSpPr/>
          <p:nvPr/>
        </p:nvSpPr>
        <p:spPr>
          <a:xfrm>
            <a:off x="7772400" y="3931920"/>
            <a:ext cx="1280160" cy="12801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4" name="Google Shape;724;p34"/>
          <p:cNvCxnSpPr/>
          <p:nvPr/>
        </p:nvCxnSpPr>
        <p:spPr>
          <a:xfrm>
            <a:off x="384048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34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34"/>
          <p:cNvCxnSpPr/>
          <p:nvPr/>
        </p:nvCxnSpPr>
        <p:spPr>
          <a:xfrm>
            <a:off x="8412480" y="1949609"/>
            <a:ext cx="3745200" cy="26223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7" name="Google Shape;727;p3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4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0099BB"/>
          </a:solidFill>
          <a:ln cap="flat" cmpd="sng" w="12700">
            <a:solidFill>
              <a:srgbClr val="009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4"/>
          <p:cNvSpPr/>
          <p:nvPr/>
        </p:nvSpPr>
        <p:spPr>
          <a:xfrm>
            <a:off x="164592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urier New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// REFLECTION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4"/>
          <p:cNvSpPr/>
          <p:nvPr/>
        </p:nvSpPr>
        <p:spPr>
          <a:xfrm>
            <a:off x="164592" y="347472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we divided the work and what tripped us up.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4"/>
          <p:cNvSpPr/>
          <p:nvPr/>
        </p:nvSpPr>
        <p:spPr>
          <a:xfrm>
            <a:off x="164592" y="1298448"/>
            <a:ext cx="2030100" cy="126180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4"/>
          <p:cNvSpPr/>
          <p:nvPr/>
        </p:nvSpPr>
        <p:spPr>
          <a:xfrm>
            <a:off x="164592" y="1298448"/>
            <a:ext cx="50400" cy="12618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4"/>
          <p:cNvSpPr/>
          <p:nvPr/>
        </p:nvSpPr>
        <p:spPr>
          <a:xfrm>
            <a:off x="329184" y="1389888"/>
            <a:ext cx="640200" cy="640200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4"/>
          <p:cNvSpPr/>
          <p:nvPr/>
        </p:nvSpPr>
        <p:spPr>
          <a:xfrm>
            <a:off x="329184" y="1389888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0D1A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60D1A"/>
                </a:solidFill>
                <a:latin typeface="Calibri"/>
                <a:ea typeface="Calibri"/>
                <a:cs typeface="Calibri"/>
                <a:sym typeface="Calibri"/>
              </a:rPr>
              <a:t>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4"/>
          <p:cNvSpPr/>
          <p:nvPr/>
        </p:nvSpPr>
        <p:spPr>
          <a:xfrm>
            <a:off x="7699254" y="1453889"/>
            <a:ext cx="104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Josiah Alexis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4"/>
          <p:cNvSpPr/>
          <p:nvPr/>
        </p:nvSpPr>
        <p:spPr>
          <a:xfrm>
            <a:off x="1060704" y="1737360"/>
            <a:ext cx="1042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&amp; dataset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4"/>
          <p:cNvSpPr/>
          <p:nvPr/>
        </p:nvSpPr>
        <p:spPr>
          <a:xfrm>
            <a:off x="2377440" y="1298448"/>
            <a:ext cx="2030100" cy="126180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4"/>
          <p:cNvSpPr/>
          <p:nvPr/>
        </p:nvSpPr>
        <p:spPr>
          <a:xfrm>
            <a:off x="2377440" y="1298448"/>
            <a:ext cx="50400" cy="126180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4"/>
          <p:cNvSpPr/>
          <p:nvPr/>
        </p:nvSpPr>
        <p:spPr>
          <a:xfrm>
            <a:off x="2542032" y="1389888"/>
            <a:ext cx="640200" cy="640200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4"/>
          <p:cNvSpPr/>
          <p:nvPr/>
        </p:nvSpPr>
        <p:spPr>
          <a:xfrm>
            <a:off x="2542032" y="1389888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0D1A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60D1A"/>
                </a:solidFill>
                <a:latin typeface="Calibri"/>
                <a:ea typeface="Calibri"/>
                <a:cs typeface="Calibri"/>
                <a:sym typeface="Calibri"/>
              </a:rPr>
              <a:t>JA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4"/>
          <p:cNvSpPr/>
          <p:nvPr/>
        </p:nvSpPr>
        <p:spPr>
          <a:xfrm>
            <a:off x="3273552" y="1426464"/>
            <a:ext cx="104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" sz="125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Josiah Alexis</a:t>
            </a:r>
            <a:endParaRPr b="0" i="0" sz="125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4"/>
          <p:cNvSpPr/>
          <p:nvPr/>
        </p:nvSpPr>
        <p:spPr>
          <a:xfrm>
            <a:off x="3273552" y="1737360"/>
            <a:ext cx="1042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 &amp;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4"/>
          <p:cNvSpPr/>
          <p:nvPr/>
        </p:nvSpPr>
        <p:spPr>
          <a:xfrm>
            <a:off x="4590288" y="1298448"/>
            <a:ext cx="2030100" cy="126180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4590288" y="1298448"/>
            <a:ext cx="50400" cy="1261800"/>
          </a:xfrm>
          <a:prstGeom prst="rect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4754880" y="1389888"/>
            <a:ext cx="640200" cy="640200"/>
          </a:xfrm>
          <a:prstGeom prst="ellipse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4"/>
          <p:cNvSpPr/>
          <p:nvPr/>
        </p:nvSpPr>
        <p:spPr>
          <a:xfrm>
            <a:off x="4754880" y="1389888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0D1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60D1A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4"/>
          <p:cNvSpPr/>
          <p:nvPr/>
        </p:nvSpPr>
        <p:spPr>
          <a:xfrm>
            <a:off x="5486400" y="1426464"/>
            <a:ext cx="104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2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Adrian Deo</a:t>
            </a:r>
            <a:endParaRPr b="0" i="0" sz="125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4"/>
          <p:cNvSpPr/>
          <p:nvPr/>
        </p:nvSpPr>
        <p:spPr>
          <a:xfrm>
            <a:off x="5486400" y="1737360"/>
            <a:ext cx="1042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&amp; modelling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4"/>
          <p:cNvSpPr/>
          <p:nvPr/>
        </p:nvSpPr>
        <p:spPr>
          <a:xfrm>
            <a:off x="6803136" y="1298448"/>
            <a:ext cx="2030100" cy="126180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4"/>
          <p:cNvSpPr/>
          <p:nvPr/>
        </p:nvSpPr>
        <p:spPr>
          <a:xfrm>
            <a:off x="6803136" y="1298448"/>
            <a:ext cx="50400" cy="1261800"/>
          </a:xfrm>
          <a:prstGeom prst="rect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4"/>
          <p:cNvSpPr/>
          <p:nvPr/>
        </p:nvSpPr>
        <p:spPr>
          <a:xfrm>
            <a:off x="6967728" y="1389888"/>
            <a:ext cx="640200" cy="640200"/>
          </a:xfrm>
          <a:prstGeom prst="ellipse">
            <a:avLst/>
          </a:prstGeom>
          <a:solidFill>
            <a:srgbClr val="00CC88"/>
          </a:solidFill>
          <a:ln cap="flat" cmpd="sng" w="12700">
            <a:solidFill>
              <a:srgbClr val="00C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4"/>
          <p:cNvSpPr/>
          <p:nvPr/>
        </p:nvSpPr>
        <p:spPr>
          <a:xfrm>
            <a:off x="6967728" y="1389888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0D1A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60D1A"/>
                </a:solidFill>
                <a:latin typeface="Calibri"/>
                <a:ea typeface="Calibri"/>
                <a:cs typeface="Calibri"/>
                <a:sym typeface="Calibri"/>
              </a:rPr>
              <a:t>JL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4"/>
          <p:cNvSpPr/>
          <p:nvPr/>
        </p:nvSpPr>
        <p:spPr>
          <a:xfrm>
            <a:off x="1083573" y="1453902"/>
            <a:ext cx="104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2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Matthew Singh</a:t>
            </a:r>
            <a:endParaRPr b="0" i="0" sz="125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4"/>
          <p:cNvSpPr/>
          <p:nvPr/>
        </p:nvSpPr>
        <p:spPr>
          <a:xfrm>
            <a:off x="7699248" y="1737360"/>
            <a:ext cx="1042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Results, maps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950"/>
              <a:buFont typeface="Calibri"/>
              <a:buNone/>
            </a:pPr>
            <a:r>
              <a:rPr b="0" i="0" lang="en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&amp; conclusions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4"/>
          <p:cNvSpPr/>
          <p:nvPr/>
        </p:nvSpPr>
        <p:spPr>
          <a:xfrm>
            <a:off x="164592" y="2724912"/>
            <a:ext cx="2761488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4"/>
          <p:cNvSpPr/>
          <p:nvPr/>
        </p:nvSpPr>
        <p:spPr>
          <a:xfrm>
            <a:off x="164592" y="2724912"/>
            <a:ext cx="50292" cy="21031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4"/>
          <p:cNvSpPr/>
          <p:nvPr/>
        </p:nvSpPr>
        <p:spPr>
          <a:xfrm>
            <a:off x="164592" y="2724912"/>
            <a:ext cx="2761488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4"/>
          <p:cNvSpPr/>
          <p:nvPr/>
        </p:nvSpPr>
        <p:spPr>
          <a:xfrm>
            <a:off x="329184" y="2798064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CHALLENGE 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4"/>
          <p:cNvSpPr/>
          <p:nvPr/>
        </p:nvSpPr>
        <p:spPr>
          <a:xfrm>
            <a:off x="329184" y="3072384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Cloud cover in winter scenes</a:t>
            </a:r>
            <a:endParaRPr b="0" i="0" sz="155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4"/>
          <p:cNvSpPr/>
          <p:nvPr/>
        </p:nvSpPr>
        <p:spPr>
          <a:xfrm>
            <a:off x="329184" y="3511296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Multiple Q1 scenes over all three cities had cloud contamination even after SCL masking. Fixed by preferring Q2/Q3 scenes in the yearly composite.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4"/>
          <p:cNvSpPr/>
          <p:nvPr/>
        </p:nvSpPr>
        <p:spPr>
          <a:xfrm>
            <a:off x="3108960" y="2724912"/>
            <a:ext cx="2761488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4"/>
          <p:cNvSpPr/>
          <p:nvPr/>
        </p:nvSpPr>
        <p:spPr>
          <a:xfrm>
            <a:off x="3108960" y="2724912"/>
            <a:ext cx="50292" cy="2103120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4"/>
          <p:cNvSpPr/>
          <p:nvPr/>
        </p:nvSpPr>
        <p:spPr>
          <a:xfrm>
            <a:off x="3108960" y="2724912"/>
            <a:ext cx="2761488" cy="50292"/>
          </a:xfrm>
          <a:prstGeom prst="rect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4"/>
          <p:cNvSpPr/>
          <p:nvPr/>
        </p:nvSpPr>
        <p:spPr>
          <a:xfrm>
            <a:off x="3273552" y="2798064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4A228"/>
                </a:solidFill>
                <a:latin typeface="Calibri"/>
                <a:ea typeface="Calibri"/>
                <a:cs typeface="Calibri"/>
                <a:sym typeface="Calibri"/>
              </a:rPr>
              <a:t>CHALLENGE 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4"/>
          <p:cNvSpPr/>
          <p:nvPr/>
        </p:nvSpPr>
        <p:spPr>
          <a:xfrm>
            <a:off x="3273552" y="3072384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Group-based split complexity</a:t>
            </a:r>
            <a:endParaRPr b="0" i="0" sz="155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/>
          <p:nvPr/>
        </p:nvSpPr>
        <p:spPr>
          <a:xfrm>
            <a:off x="3273552" y="3511296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Naive random splits inflated accuracy by ~8 F1 points. Switching to GroupShuffleSplit by city-year gave honest evaluation on genuinely unseen data.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4"/>
          <p:cNvSpPr/>
          <p:nvPr/>
        </p:nvSpPr>
        <p:spPr>
          <a:xfrm>
            <a:off x="6053328" y="2724912"/>
            <a:ext cx="2761488" cy="2103120"/>
          </a:xfrm>
          <a:prstGeom prst="rect">
            <a:avLst/>
          </a:prstGeom>
          <a:solidFill>
            <a:srgbClr val="0A1628"/>
          </a:solidFill>
          <a:ln cap="flat" cmpd="sng" w="1015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4"/>
          <p:cNvSpPr/>
          <p:nvPr/>
        </p:nvSpPr>
        <p:spPr>
          <a:xfrm>
            <a:off x="6053328" y="2724912"/>
            <a:ext cx="50292" cy="2103120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4"/>
          <p:cNvSpPr/>
          <p:nvPr/>
        </p:nvSpPr>
        <p:spPr>
          <a:xfrm>
            <a:off x="6053328" y="2724912"/>
            <a:ext cx="2761488" cy="50292"/>
          </a:xfrm>
          <a:prstGeom prst="rect">
            <a:avLst/>
          </a:prstGeom>
          <a:solidFill>
            <a:srgbClr val="FF4455"/>
          </a:solidFill>
          <a:ln cap="flat" cmpd="sng" w="12700">
            <a:solidFill>
              <a:srgbClr val="FF4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4"/>
          <p:cNvSpPr/>
          <p:nvPr/>
        </p:nvSpPr>
        <p:spPr>
          <a:xfrm>
            <a:off x="6217920" y="2798064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5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4455"/>
                </a:solidFill>
                <a:latin typeface="Calibri"/>
                <a:ea typeface="Calibri"/>
                <a:cs typeface="Calibri"/>
                <a:sym typeface="Calibri"/>
              </a:rPr>
              <a:t>CHALLENGE 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4"/>
          <p:cNvSpPr/>
          <p:nvPr/>
        </p:nvSpPr>
        <p:spPr>
          <a:xfrm>
            <a:off x="6217920" y="3072384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5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ResNet-50 patch generation</a:t>
            </a:r>
            <a:endParaRPr b="0" i="0" sz="155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6217920" y="3511296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41 scenes generated too few patches for convergence. Accuracy plateaued at 0.467. Lesson: deep learning needs data volume that tabular models don't.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3" name="Google Shape;773;p34"/>
          <p:cNvCxnSpPr/>
          <p:nvPr/>
        </p:nvCxnSpPr>
        <p:spPr>
          <a:xfrm>
            <a:off x="164592" y="4901184"/>
            <a:ext cx="8814816" cy="0"/>
          </a:xfrm>
          <a:prstGeom prst="straightConnector1">
            <a:avLst/>
          </a:prstGeom>
          <a:noFill/>
          <a:ln cap="flat" cmpd="sng" w="9525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34"/>
          <p:cNvSpPr/>
          <p:nvPr/>
        </p:nvSpPr>
        <p:spPr>
          <a:xfrm>
            <a:off x="164592" y="49194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Satellite Intelligence Platform  ·  Wrap-up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7772400" y="49194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850"/>
              <a:buFont typeface="Courier New"/>
              <a:buNone/>
            </a:pPr>
            <a:r>
              <a:rPr b="0" i="0" lang="en" sz="850" u="none" cap="none" strike="noStrike">
                <a:solidFill>
                  <a:srgbClr val="4A7A9B"/>
                </a:solidFill>
                <a:latin typeface="Courier New"/>
                <a:ea typeface="Courier New"/>
                <a:cs typeface="Courier New"/>
                <a:sym typeface="Courier New"/>
              </a:rPr>
              <a:t>19 / 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4"/>
          <p:cNvSpPr/>
          <p:nvPr/>
        </p:nvSpPr>
        <p:spPr>
          <a:xfrm>
            <a:off x="7722102" y="1479089"/>
            <a:ext cx="104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2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Jonathan La Borde</a:t>
            </a:r>
            <a:endParaRPr b="0" i="0" sz="125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810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5"/>
          <p:cNvSpPr/>
          <p:nvPr/>
        </p:nvSpPr>
        <p:spPr>
          <a:xfrm>
            <a:off x="-457200" y="-2377440"/>
            <a:ext cx="10058400" cy="100584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5"/>
          <p:cNvSpPr/>
          <p:nvPr/>
        </p:nvSpPr>
        <p:spPr>
          <a:xfrm>
            <a:off x="731520" y="-1188720"/>
            <a:ext cx="7680960" cy="768096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5"/>
          <p:cNvSpPr/>
          <p:nvPr/>
        </p:nvSpPr>
        <p:spPr>
          <a:xfrm>
            <a:off x="1828800" y="-91440"/>
            <a:ext cx="5486400" cy="54864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5"/>
          <p:cNvSpPr/>
          <p:nvPr/>
        </p:nvSpPr>
        <p:spPr>
          <a:xfrm>
            <a:off x="2834640" y="914400"/>
            <a:ext cx="3474720" cy="347472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5"/>
          <p:cNvSpPr/>
          <p:nvPr/>
        </p:nvSpPr>
        <p:spPr>
          <a:xfrm>
            <a:off x="3657600" y="1737360"/>
            <a:ext cx="1828800" cy="1828800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5"/>
          <p:cNvSpPr/>
          <p:nvPr/>
        </p:nvSpPr>
        <p:spPr>
          <a:xfrm>
            <a:off x="4224528" y="2304288"/>
            <a:ext cx="694944" cy="694944"/>
          </a:xfrm>
          <a:prstGeom prst="ellipse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8" name="Google Shape;788;p35"/>
          <p:cNvCxnSpPr/>
          <p:nvPr/>
        </p:nvCxnSpPr>
        <p:spPr>
          <a:xfrm>
            <a:off x="0" y="2651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3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3D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35"/>
          <p:cNvCxnSpPr/>
          <p:nvPr/>
        </p:nvCxnSpPr>
        <p:spPr>
          <a:xfrm>
            <a:off x="4572000" y="-495110"/>
            <a:ext cx="4494196" cy="3146870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35"/>
          <p:cNvSpPr/>
          <p:nvPr/>
        </p:nvSpPr>
        <p:spPr>
          <a:xfrm>
            <a:off x="3310128" y="166420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5"/>
          <p:cNvSpPr/>
          <p:nvPr/>
        </p:nvSpPr>
        <p:spPr>
          <a:xfrm>
            <a:off x="3410712" y="1764792"/>
            <a:ext cx="128016" cy="12801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5"/>
          <p:cNvSpPr/>
          <p:nvPr/>
        </p:nvSpPr>
        <p:spPr>
          <a:xfrm>
            <a:off x="5687568" y="202996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F4A22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5"/>
          <p:cNvSpPr/>
          <p:nvPr/>
        </p:nvSpPr>
        <p:spPr>
          <a:xfrm>
            <a:off x="5788152" y="2130552"/>
            <a:ext cx="128016" cy="128016"/>
          </a:xfrm>
          <a:prstGeom prst="ellipse">
            <a:avLst/>
          </a:prstGeom>
          <a:solidFill>
            <a:srgbClr val="F4A228"/>
          </a:solidFill>
          <a:ln cap="flat" cmpd="sng" w="127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5"/>
          <p:cNvSpPr/>
          <p:nvPr/>
        </p:nvSpPr>
        <p:spPr>
          <a:xfrm>
            <a:off x="4956048" y="3584448"/>
            <a:ext cx="329184" cy="329184"/>
          </a:xfrm>
          <a:prstGeom prst="ellipse">
            <a:avLst/>
          </a:prstGeom>
          <a:noFill/>
          <a:ln cap="flat" cmpd="sng" w="9525">
            <a:solidFill>
              <a:srgbClr val="9966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5"/>
          <p:cNvSpPr/>
          <p:nvPr/>
        </p:nvSpPr>
        <p:spPr>
          <a:xfrm>
            <a:off x="5056632" y="3685032"/>
            <a:ext cx="128016" cy="128016"/>
          </a:xfrm>
          <a:prstGeom prst="ellipse">
            <a:avLst/>
          </a:prstGeom>
          <a:solidFill>
            <a:srgbClr val="9966FF"/>
          </a:solidFill>
          <a:ln cap="flat" cmpd="sng" w="12700">
            <a:solidFill>
              <a:srgbClr val="99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5"/>
          <p:cNvSpPr/>
          <p:nvPr/>
        </p:nvSpPr>
        <p:spPr>
          <a:xfrm>
            <a:off x="411480" y="228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2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F4A228"/>
                </a:solidFill>
                <a:latin typeface="Courier New"/>
                <a:ea typeface="Courier New"/>
                <a:cs typeface="Courier New"/>
                <a:sym typeface="Courier New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411480" y="621792"/>
            <a:ext cx="68580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0" name="Google Shape;800;p35"/>
          <p:cNvCxnSpPr/>
          <p:nvPr/>
        </p:nvCxnSpPr>
        <p:spPr>
          <a:xfrm>
            <a:off x="411480" y="2212848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F4A2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35"/>
          <p:cNvSpPr/>
          <p:nvPr/>
        </p:nvSpPr>
        <p:spPr>
          <a:xfrm>
            <a:off x="411480" y="2331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ourier New"/>
              <a:buNone/>
            </a:pPr>
            <a:r>
              <a:rPr b="1" i="0" lang="en" sz="95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REPOSITORY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411475" y="2596900"/>
            <a:ext cx="729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github.com/Big-Data-Analysis-Group/Satellite-Intelligence-Platform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411480" y="30358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ourier New"/>
              <a:buNone/>
            </a:pPr>
            <a:r>
              <a:rPr b="1" i="0" lang="en" sz="950" u="none" cap="none" strike="noStrike">
                <a:solidFill>
                  <a:srgbClr val="00D4FF"/>
                </a:solidFill>
                <a:latin typeface="Courier New"/>
                <a:ea typeface="Courier New"/>
                <a:cs typeface="Courier New"/>
                <a:sym typeface="Courier New"/>
              </a:rPr>
              <a:t>NOTEBOOKS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411480" y="329184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Notebooks 1 · 2 · 2b · 3 · 4  available in the repository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411480" y="4434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9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A7A9B"/>
                </a:solidFill>
                <a:latin typeface="Calibri"/>
                <a:ea typeface="Calibri"/>
                <a:cs typeface="Calibri"/>
                <a:sym typeface="Calibri"/>
              </a:rPr>
              <a:t>Josiah Alexis  ·  Jonathan La Borde  ·  Adrian Deo  ·  Matthew Singh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